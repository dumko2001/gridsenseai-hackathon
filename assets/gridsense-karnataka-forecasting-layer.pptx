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0b98483d44418" /><Relationship Type="http://schemas.openxmlformats.org/officeDocument/2006/relationships/extended-properties" Target="/docProps/app.xml" Id="R94efc0822f054206" /><Relationship Type="http://schemas.openxmlformats.org/officeDocument/2006/relationships/officeDocument" Target="/ppt/presentation.xml" Id="R3b1a39d1d61442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ddcb26f1f847f7"/>
  </p:sldMasterIdLst>
  <p:notesMasterIdLst>
    <p:notesMasterId xmlns:r="http://schemas.openxmlformats.org/officeDocument/2006/relationships" r:id="Rb808d3990202471b"/>
  </p:notesMasterIdLst>
  <p:sldIdLst>
    <p:sldId xmlns:r="http://schemas.openxmlformats.org/officeDocument/2006/relationships" id="256" r:id="R498e4d650b2d417b"/>
    <p:sldId xmlns:r="http://schemas.openxmlformats.org/officeDocument/2006/relationships" id="257" r:id="R8a360b25425c4dc4"/>
    <p:sldId xmlns:r="http://schemas.openxmlformats.org/officeDocument/2006/relationships" id="258" r:id="R0a70fae981f9432d"/>
    <p:sldId xmlns:r="http://schemas.openxmlformats.org/officeDocument/2006/relationships" id="259" r:id="R32d7fe0fd2a14f3c"/>
    <p:sldId xmlns:r="http://schemas.openxmlformats.org/officeDocument/2006/relationships" id="260" r:id="R04ea980abbf74461"/>
    <p:sldId xmlns:r="http://schemas.openxmlformats.org/officeDocument/2006/relationships" id="261" r:id="R415db2a2324f4430"/>
    <p:sldId xmlns:r="http://schemas.openxmlformats.org/officeDocument/2006/relationships" id="262" r:id="R4cb8cd24dc0d4fd1"/>
    <p:sldId xmlns:r="http://schemas.openxmlformats.org/officeDocument/2006/relationships" id="263" r:id="Rd543c99463a24f2a"/>
    <p:sldId xmlns:r="http://schemas.openxmlformats.org/officeDocument/2006/relationships" id="264" r:id="R0da838de76ff4841"/>
    <p:sldId xmlns:r="http://schemas.openxmlformats.org/officeDocument/2006/relationships" id="265" r:id="Rb7a1c8d781ac4d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dcb26f1f847f7" /><Relationship Type="http://schemas.openxmlformats.org/officeDocument/2006/relationships/theme" Target="/ppt/theme/theme1.xml" Id="Rc9d929cdc2764ac0" /><Relationship Type="http://schemas.openxmlformats.org/officeDocument/2006/relationships/notesMaster" Target="/ppt/notesMasters/notesMaster1.xml" Id="Rb808d3990202471b" /><Relationship Type="http://schemas.openxmlformats.org/officeDocument/2006/relationships/presProps" Target="/ppt/presProps.xml" Id="Rc50868ddd4f14eea" /><Relationship Type="http://schemas.openxmlformats.org/officeDocument/2006/relationships/viewProps" Target="/ppt/viewProps.xml" Id="Ra7956c9c47d34e63" /><Relationship Type="http://schemas.openxmlformats.org/officeDocument/2006/relationships/tableStyles" Target="/ppt/tableStyles.xml" Id="R2e2b93eccd0e42ba" /><Relationship Type="http://schemas.openxmlformats.org/officeDocument/2006/relationships/slide" Target="/ppt/slides/slide1.xml" Id="R498e4d650b2d417b" /><Relationship Type="http://schemas.openxmlformats.org/officeDocument/2006/relationships/slide" Target="/ppt/slides/slide2.xml" Id="R8a360b25425c4dc4" /><Relationship Type="http://schemas.openxmlformats.org/officeDocument/2006/relationships/slide" Target="/ppt/slides/slide3.xml" Id="R0a70fae981f9432d" /><Relationship Type="http://schemas.openxmlformats.org/officeDocument/2006/relationships/slide" Target="/ppt/slides/slide4.xml" Id="R32d7fe0fd2a14f3c" /><Relationship Type="http://schemas.openxmlformats.org/officeDocument/2006/relationships/slide" Target="/ppt/slides/slide5.xml" Id="R04ea980abbf74461" /><Relationship Type="http://schemas.openxmlformats.org/officeDocument/2006/relationships/slide" Target="/ppt/slides/slide6.xml" Id="R415db2a2324f4430" /><Relationship Type="http://schemas.openxmlformats.org/officeDocument/2006/relationships/slide" Target="/ppt/slides/slide7.xml" Id="R4cb8cd24dc0d4fd1" /><Relationship Type="http://schemas.openxmlformats.org/officeDocument/2006/relationships/slide" Target="/ppt/slides/slide8.xml" Id="Rd543c99463a24f2a" /><Relationship Type="http://schemas.openxmlformats.org/officeDocument/2006/relationships/slide" Target="/ppt/slides/slide9.xml" Id="R0da838de76ff4841" /><Relationship Type="http://schemas.openxmlformats.org/officeDocument/2006/relationships/slide" Target="/ppt/slides/slide10.xml" Id="Rb7a1c8d781ac4d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8857e9c67094d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cb4223458f4593" /><Relationship Type="http://schemas.openxmlformats.org/officeDocument/2006/relationships/notesMaster" Target="/ppt/notesMasters/notesMaster1.xml" Id="R9e8f93c4e8f940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8abeba7f554e9d" /><Relationship Type="http://schemas.openxmlformats.org/officeDocument/2006/relationships/notesMaster" Target="/ppt/notesMasters/notesMaster1.xml" Id="R8af352eed8a84d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1b9fe97bc04a36" /><Relationship Type="http://schemas.openxmlformats.org/officeDocument/2006/relationships/notesMaster" Target="/ppt/notesMasters/notesMaster1.xml" Id="R68229a50bfe445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8d3a070c8f4fed" /><Relationship Type="http://schemas.openxmlformats.org/officeDocument/2006/relationships/notesMaster" Target="/ppt/notesMasters/notesMaster1.xml" Id="R26efc846f9d94f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957c6608304f48" /><Relationship Type="http://schemas.openxmlformats.org/officeDocument/2006/relationships/notesMaster" Target="/ppt/notesMasters/notesMaster1.xml" Id="Rbfb9e3c5e3ce4a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61d82b8a2d407c" /><Relationship Type="http://schemas.openxmlformats.org/officeDocument/2006/relationships/notesMaster" Target="/ppt/notesMasters/notesMaster1.xml" Id="R7c61359698d84e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fa3a2248274094" /><Relationship Type="http://schemas.openxmlformats.org/officeDocument/2006/relationships/notesMaster" Target="/ppt/notesMasters/notesMaster1.xml" Id="R092460cd9e1141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96a74150404c0c" /><Relationship Type="http://schemas.openxmlformats.org/officeDocument/2006/relationships/notesMaster" Target="/ppt/notesMasters/notesMaster1.xml" Id="Rba06e7ccd50b45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bbc016303c47c3" /><Relationship Type="http://schemas.openxmlformats.org/officeDocument/2006/relationships/notesMaster" Target="/ppt/notesMasters/notesMaster1.xml" Id="R24af55aa8823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0ba4b2ee2a45f6" /><Relationship Type="http://schemas.openxmlformats.org/officeDocument/2006/relationships/notesMaster" Target="/ppt/notesMasters/notesMaster1.xml" Id="R871b31ed912746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f8fe0010846f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e9a1ff20bbb4e42" /><Relationship Type="http://schemas.openxmlformats.org/officeDocument/2006/relationships/slideLayout" Target="/ppt/slideLayouts/slideLayout2.xml" Id="R04cb08eec13d41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b08eec13d41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038bef2c494a29" /><Relationship Type="http://schemas.openxmlformats.org/officeDocument/2006/relationships/notesSlide" Target="/ppt/notesSlides/notesSlide1.xml" Id="R7584abccc16c49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691aad3c254643" /><Relationship Type="http://schemas.openxmlformats.org/officeDocument/2006/relationships/notesSlide" Target="/ppt/notesSlides/notesSlide2.xml" Id="Rb377143b233647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9c651070b54f83" /><Relationship Type="http://schemas.openxmlformats.org/officeDocument/2006/relationships/notesSlide" Target="/ppt/notesSlides/notesSlide3.xml" Id="R1323fdcecedf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aa3565ae7443c1" /><Relationship Type="http://schemas.openxmlformats.org/officeDocument/2006/relationships/notesSlide" Target="/ppt/notesSlides/notesSlide4.xml" Id="R318642be950345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b1cc9f7664862" /><Relationship Type="http://schemas.openxmlformats.org/officeDocument/2006/relationships/notesSlide" Target="/ppt/notesSlides/notesSlide5.xml" Id="R839a4479d6324c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74404f264b4b7e" /><Relationship Type="http://schemas.openxmlformats.org/officeDocument/2006/relationships/notesSlide" Target="/ppt/notesSlides/notesSlide6.xml" Id="Rde1aaeacea3d40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f4c0061bb94b1e" /><Relationship Type="http://schemas.openxmlformats.org/officeDocument/2006/relationships/notesSlide" Target="/ppt/notesSlides/notesSlide7.xml" Id="Rd2841809ca45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9317f270c043a6" /><Relationship Type="http://schemas.openxmlformats.org/officeDocument/2006/relationships/notesSlide" Target="/ppt/notesSlides/notesSlide8.xml" Id="Rf1615dd1561343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e8097e67884554" /><Relationship Type="http://schemas.openxmlformats.org/officeDocument/2006/relationships/notesSlide" Target="/ppt/notesSlides/notesSlide9.xml" Id="R7290267b4fa145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96ff3b990a47ae" /><Relationship Type="http://schemas.openxmlformats.org/officeDocument/2006/relationships/notesSlide" Target="/ppt/notesSlides/notesSlide10.xml" Id="R57e7e26bcb9f46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42309-50F9-48D4-A130-91A053A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15E51-8328-46CB-B111-95435B7E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42BF4-BD70-40D1-8355-ED190750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B3AF8-290B-41C5-970D-9FE12981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F3BD1-2D78-4BBD-B3F8-A563A355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B125F-AC54-476B-8595-C2473B67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BEA26-D2DE-4744-806B-E8E5F795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F82E3-28F3-4946-88D3-0CF1690F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68DA9-0464-4A15-ACB9-B270F1E2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79E2E-F5EE-4693-BE7A-45080ABE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7920B-9388-47E4-B55D-20B051DA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AE5FD-6CDD-4B0B-A4C0-36C6ECB5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26958-E0C0-45B6-B5CA-DE356A5F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1050A-884F-47AC-BBF9-5C17D6CD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0605A-BF2A-40A4-A308-CE8BCAB5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AF663-FE82-4A71-BC71-237767D9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3E83A-1D07-4605-B538-86BBF222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628EF-041D-41BF-BDCC-01A84D2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E657D-1268-489D-8949-6294325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623F1-AC80-409C-88EB-615C56AE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D1CD4-1916-40A7-9537-C29CA23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D7715-BD93-4600-8683-18EA522E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8292F-0665-4AEC-8BA5-854D4759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6C24C-7122-4DAF-9D6C-45E5D5D0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43158-88FF-4C6C-9E20-27A37D80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1FE03-66CD-4CF0-A2CB-A86CFB54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AB962-AA8D-4AA0-90FB-1C2A58B0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B7B96A-F93D-4476-9915-A72B78C0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STATE FORECASTING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F50CD-9C50-4AE0-B0C0-E9A44D8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19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Karnataka does not need another model demo. It needs confidence before schedule lock-in.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32A23-65D1-479C-8951-B062ECE2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GridSense AI turns solar and wind variability into plant-level and cluster-level forecasts with uncertainty, physics checks, and operator-readable reasons.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C5B51D-DBD9-422A-8432-A43390D3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38200"/>
            <a:ext cx="31051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B464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A7D259-60CF-4491-95B8-A5E80EAB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EBF44A-AEB1-4417-AD47-B701E121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0128"/>
            <a:ext cx="76200" cy="275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0A7313-0A73-4D5E-9D8F-2E74E00D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8410"/>
            <a:ext cx="76200" cy="54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57A108-4DC6-459D-9FAE-1D84757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3440"/>
            <a:ext cx="76200" cy="811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9A1BC2-1B6B-4751-855D-0C598042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09157E-5C47-4EB1-9293-7AAE2A92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1298"/>
            <a:ext cx="76200" cy="1003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B75B5B-2F95-4C8F-B891-CCFEFED3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75219"/>
            <a:ext cx="76200" cy="1230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110A5A-2DA3-414C-BBAD-34122095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67580"/>
            <a:ext cx="76200" cy="1437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C7EB97-D661-415D-A817-8AC74E45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85427"/>
            <a:ext cx="76200" cy="13198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914D6D-1E2E-4011-8E2E-D26C1087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1058"/>
            <a:ext cx="76200" cy="1484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0C7221-C365-48E8-B5EF-85E0434A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0779"/>
            <a:ext cx="76200" cy="1624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EF7847-FDAA-4EA6-9C35-2F886003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65688"/>
            <a:ext cx="76200" cy="17395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AD23E2-13D8-46BB-A7CD-2E3EA886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06DE9B-0DD0-4BAA-9CCD-E5F20F9E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18088"/>
            <a:ext cx="76200" cy="15871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366856-245B-4094-ABC6-46998939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0779"/>
            <a:ext cx="76200" cy="1624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D73332-6D73-447A-8A7D-FA33BB2C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68658"/>
            <a:ext cx="76200" cy="1636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9CD53-F643-49E3-A62C-6BCE2F6F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85427"/>
            <a:ext cx="76200" cy="13198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E78639-3917-4E7E-AFEA-A7BF0999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19980"/>
            <a:ext cx="76200" cy="128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B1B772-712F-4C54-9D82-4C0856DC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5219"/>
            <a:ext cx="76200" cy="1230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1BB028-1532-4433-8A35-CA16D12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48898"/>
            <a:ext cx="76200" cy="1156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2685BC-D170-4BDC-ACC4-1DB67FCE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4325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094053-0B3A-4917-B653-D6D7F246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45840"/>
            <a:ext cx="76200" cy="659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38D9DF-0829-43B7-9712-FCE49858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358410"/>
            <a:ext cx="76200" cy="54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CB4BF0-1E87-4351-8491-B8CDE250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477728"/>
            <a:ext cx="76200" cy="427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26F8FE-2C83-478C-A350-09CF383C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33C6F0-31AD-4819-B0BC-C2589061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1727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FC6B23-9511-4481-BC80-A028EAA6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7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ED2211-648C-402C-84BD-F64B71B2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8999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5F3120-B37A-41A4-BE17-6B0A13C1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0587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C7C796-2D02-493B-9722-7A82716D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56966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156F7A-B5D4-4DA4-BD6A-30D1606D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04496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59705F-82B8-41BB-9283-082C531B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4050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902782-7049-44BE-8475-98CA7AF8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5151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3DDB472-C52E-42F2-B59C-5468ACA8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31566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575FFF-1DDD-496E-83EA-B3F6D64F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7769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C1CE5B-9563-41EF-AA92-23F0806D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2224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7B830F-D218-4F3F-8485-9153D898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4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7761E6-8AA9-4808-8430-336861D8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529166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FF0F1D-FEEC-4134-AEB1-9413C823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7647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0744EE-1EAC-4584-923C-CB0A2458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70156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4BC1A68-F1FC-43CB-85C3-D87F46D9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87277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422CB9E-4158-4A8B-AF80-A25E3104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23646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2C3729-82F4-468F-99E2-92FFAC60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104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24-hour operating view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4F83DE-55ED-42E6-AE5D-EEEC5958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097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Forecast line + confidence band + drivers + clamp reason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51E644-64F9-4844-996A-1DA5D6EE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33414E3-A175-443F-9851-6EDE1BA5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F41A51-CF91-48C7-BE13-C36CB6AF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20.4%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0523FE-50B7-4C04-A775-654507C4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8D0C2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8D0C2"/>
                </a:solidFill>
                <a:latin typeface="Avenir Next"/>
                <a:ea typeface="Avenir Next"/>
                <a:cs typeface="Avenir Next"/>
              </a:rPr>
              <a:t>BETTER THAN PERSISTENCE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555891-00F0-4223-B976-4307BB5A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33.9 MW vs 42.6 MW RMSE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3A7A4A5-4A3F-45E7-80E9-E1E93F11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006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3E4BB87-6441-49BD-8081-7564AB19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81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7A4C8A-ADD9-422C-A98C-184D8F61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626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8D0C2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8D0C2"/>
                </a:solidFill>
                <a:latin typeface="Avenir Next"/>
                <a:ea typeface="Avenir Next"/>
                <a:cs typeface="Avenir Next"/>
              </a:rPr>
              <a:t>KARNATAKA ASSETS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84059F5-46D3-452B-B1DF-2718A058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734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3 solar plants + 2 wind clusters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275FC3-3029-4613-8C31-C6AE3B45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006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4AFF079-288D-4DB1-8C4D-40128BE7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81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1-48h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610E026-122D-4C13-864B-C0AE89F5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5626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8D0C2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8D0C2"/>
                </a:solidFill>
                <a:latin typeface="Avenir Next"/>
                <a:ea typeface="Avenir Next"/>
                <a:cs typeface="Avenir Next"/>
              </a:rPr>
              <a:t>FORECAST HORIZON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8F5D21E-1C02-4523-A842-89586836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7340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day-ahead and intra-day updates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A694259-6AD4-4785-8B72-3DADA602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1EF9BEF-E276-44AA-A4E0-07C2EFC9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81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3A1F6F7-2E7E-4BB6-B409-99AB5C75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626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8D0C2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8D0C2"/>
                </a:solidFill>
                <a:latin typeface="Avenir Next"/>
                <a:ea typeface="Avenir Next"/>
                <a:cs typeface="Avenir Next"/>
              </a:rPr>
              <a:t>SCADA MODIFICATIONS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FA34D5F-1A0B-4AFB-92F3-A0CCABE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340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forecasting layer; CSV and API out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521EDB9-EA0D-46D4-A430-11C4E15D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F2FBBD6-54E5-48E2-9872-2D8F6ABF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GridSense AI | Theme 10 KREDL / KSPDCL | repo-derived deck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36094FD-7A61-48E4-A009-600E5BAD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94361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81F098-EB44-451B-AB77-5A960430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5F8EE-49B2-4EBE-AC73-77C5FC40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7A0AC-1051-4ECA-A664-7AFB0199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F9998-9D38-446C-9CDE-E26E0CB4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29177-37C4-4D19-9748-4C19122A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3DC5F-2D17-4A6C-8E92-BE40E8D4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50A9A-8848-4A11-A189-98CCAC98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8ACF9-38F0-4967-8DAD-13896AEE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6E81F-B3ED-4D8C-A27C-037A4BE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F82BB-18B1-4115-AC8C-D36BDE6B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393A5-6BF6-497C-8C48-0A4074BE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95C24-51DA-4DD8-B204-0DB506B5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698C6-9EC7-4618-8879-FC81204C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04376-B8A4-4AA8-8BA4-5E86330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E3942-8CD8-430C-856F-11950073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F2291-AB02-4DD4-91F5-18B9E0AC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67ED1-8945-4FC7-87C1-5858A7FC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580D6-B90F-41C5-9677-F0805761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D156F-4541-4578-A444-8332F388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E5B06-9EE4-44C8-B1A3-09A02FEC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60CEA-0A54-4BF8-B4E8-AB290074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7B407-8F33-4C80-BC22-FDCD2C54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BDC44-1F23-4B39-BFE3-D3A22434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47BECD-0C07-43DD-AFE4-C2787486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7ADD58-12CB-4778-8A00-83F0018A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40FBC-F8BA-4A81-BA96-063F23B5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WHY IT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B4223-7AED-4EB4-BA1D-894AD25C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19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Every cloudy hour and wind ramp becomes a rupee-and-reliability decision.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C19E97-95E7-4357-AE12-2F3A58A7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038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642C94-D50B-4FDE-B612-915E8C6B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A51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2A51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F0374-EA01-41DD-ADBC-96C89D69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Weather shifts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484F59-5913-4C65-9AC0-0BF7ECCE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535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4A5358"/>
                </a:solidFill>
                <a:latin typeface="Avenir Next"/>
                <a:ea typeface="Avenir Next"/>
                <a:cs typeface="Avenir Next"/>
              </a:rPr>
              <a:t>Cloud cover, GHI, wind speed and direction move faster than static schedules.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AE5558-69DF-4E0C-AC2C-12FB29EA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84A531-42C7-4DE0-B437-9F95F7C0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90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C9F1E9-D0A9-4C8B-BD85-04DF44C6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2038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681A01-19E9-4A51-B54F-10002110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A51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2A51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9AC2C2-A252-4CE4-A569-FC2B57CD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Forecast error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409510-E37E-4CB5-A064-CF587446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385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535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4A5358"/>
                </a:solidFill>
                <a:latin typeface="Avenir Next"/>
                <a:ea typeface="Avenir Next"/>
                <a:cs typeface="Avenir Next"/>
              </a:rPr>
              <a:t>Operators over-schedule, under-schedule, or rely too much on backup power.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D70842-DD25-4777-9700-F26C1CBE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D5BA47-E078-41AE-A6B3-6A9F7229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90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03F22E-0F12-4206-AF49-BE5239F0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2038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F37321-5E9D-44CC-98A5-D83478BB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A51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2A51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27282C-006C-4FFC-A1E4-2287C45B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Grid imbalance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9A8839-9D43-45FA-8597-E61B5EF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535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4A5358"/>
                </a:solidFill>
                <a:latin typeface="Avenir Next"/>
                <a:ea typeface="Avenir Next"/>
                <a:cs typeface="Avenir Next"/>
              </a:rPr>
              <a:t>Confidence is missing exactly when renewable penetration is rising.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55803B-C244-4363-9E24-564A791C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445505-882E-4C2D-B6C6-D54A63BC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90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E4940F-E55A-4949-9810-C7B0DC1F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2038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9525">
            <a:solidFill>
              <a:srgbClr val="D65A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B24451-2890-406A-8694-5E3CEE9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65A4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D65A4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F6A0F8-3208-49C8-983C-8F135E78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Penalty exposure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991D03-9967-40D1-871C-82DF2D5D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2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D8D0C2"/>
                </a:solidFill>
                <a:latin typeface="Avenir Next"/>
                <a:ea typeface="Avenir Next"/>
                <a:cs typeface="Avenir Next"/>
              </a:rPr>
              <a:t>DSM deviations and curtailment risk become real taxpayer money.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EA405A-BD70-4B6B-B219-B0887AEF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F6AE6B-78EA-4120-8CB9-E57FBA5C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The pitch is not "our AI is clever." The pitch is: schedule with quantified confidence, explain why the number moved, and keep existing SLDC systems intact.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2A948A-518A-4AB5-9DC4-F52786EF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3E0C88-6B00-43DB-94DA-52DFF47A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Source: Theme 10 prompt, SUBMISSION.md, WIN_AUDIT.md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C4BEB6-5079-4E75-B034-56254CBE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23951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6D82D4-13A1-49B3-A9CB-9DB8E54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5ED5F-3590-488B-93B7-815B0B99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1C0D9-B59B-4D74-A335-EB66D0BE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93555-26C8-42D5-AE61-87F77052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EFBA7-7C85-472B-BE51-D0136E31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D9329-3213-48DA-AD6B-1017461A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2B9BE-8743-4454-A0D9-F8D56D9B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6992E-16B5-40E5-86D3-E38A5B20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C5882-D895-4AF0-A7BA-E981BBF0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8E0CA-C0E5-4C8C-9DE4-9C4B56DB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D64D2-246B-474A-8D78-FD6844C1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E5BEE-52BE-421B-9085-43E0B0D6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5EA78-9391-4686-8757-2A41ACB5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64134-B447-4CD7-B563-8F977112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F6719-0BD2-4178-9081-707A3264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CA681-579B-4C02-82BE-91D42D5E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421E8-08AF-4FDA-9EB6-E03C5D30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25586-0ACA-4EEE-BE89-04F6A9E5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E5BC2C-1D09-4BDE-86E0-013407A4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E7DCB-93CD-4720-B411-74A72E55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E4FA4-76AE-4A11-ABBC-1DC07E26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4BFCF-91DD-4F08-8F74-89560207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F7947-81C3-48C1-BAB7-E96A4E2A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C0305-F1AE-4871-AAF4-0772D001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1B9C0-3596-47D8-8789-456C855C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B5DF30-AC85-4D49-BAE1-9CD91D76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D445CD-A5FD-42A2-912F-35E46253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4DABA-797E-4669-907D-A2F3904D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ADOPTION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FD6BA5-3C04-4693-913C-64A1D3FB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096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GridSense is a layer, so government can pilot it without touching SCADA.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7F06A0-8618-4ED2-B1D0-1C314E01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9917E2-99B2-4147-9779-1B4CB704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7996BF-CE9C-453A-A916-8E99D02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Existing SCADA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542F90-5820-4311-B210-1B45B0DB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Hourly generation export from plant historian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2F5F91-FA4E-406A-A2CE-B2A9A8B9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86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223AAA-7132-4475-B2E3-799282DB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2E0E38-0099-46D9-A574-C193CBF7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190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F2A51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C2F61E-75A7-48A8-9959-0ED3C114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C24546-BAB6-4DD6-9D3D-79B752D4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GridSense API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9ABDF5-5CB5-4F1C-AB1A-A508EE7F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6225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FastAPI /forecast, /forecast/cluster, /forecast/bulk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783663-4525-4B55-A65F-4387FB79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583E93-06DB-4864-9AAD-1A4E92C4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75A6D-6BA2-420D-BE2E-384EBAE5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305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37B7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F56BD1-5B4A-4BB2-9F48-BF5601A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D06AF8-B564-4E2C-9F44-1DEA12BD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955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Forecast layer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7E5829-94BB-458F-8257-3A1D8441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2019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Baseline + residual + physics + uncertainty + explanations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1D2064-53B9-4A8C-AD7B-8BBD6066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7CA58E-3E0A-459F-9545-A1209987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BCD652-C08C-4A52-BEAB-19A9D8D1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7DBA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33AC9D-AB7C-4A47-91D2-75C56FD5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E841C7-1727-484E-B4D7-92FB7517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Operator outputs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B218B7-F6D4-41BF-9624-4A44665B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Dashboard, JSON, Excel-ready CSV, compliance report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34E37A-166B-4709-9AB7-B81ED122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2A51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587A0A-0EDB-4227-83E3-94937CB5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14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 replacement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4C5E37-D8DD-4CEE-91E6-800EAB80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435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SLDC keeps current dashboards and workflows.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B44D5F-2C55-49D6-B136-896C8DF8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625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7B7C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356E0E-57D1-4BB1-8121-0B2B4A2B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14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Masked data ready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8BC2F1-BDA0-4462-9FB1-2619E33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435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Synthetic SCADA is physics-based and reproducible.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0F196C-2544-473A-BEF9-8360E445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625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7DBA6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E428C3-838F-4142-A98F-EF9D4AA3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Air-gap logic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5B1D6B-60E3-4450-8D3E-7939663A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Explanations are deterministic; no hosted LLM on sensitive data.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CC0F5D-EB8C-400A-BD4E-8E38085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01FAA0-3FC5-412F-92D7-577979B6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Source: README.md, SUBMISSION.md, src/api/main.py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CB1A0B-FFC7-433D-AEAD-9705644A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79472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A3E3A-1032-4A56-955C-2E5988A2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D17E3-3940-4074-AC2D-46C59E8A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1E0F4-36BC-45A7-A5F3-4DBDD007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A431F-968B-4E18-9006-46BE175A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73719-AF8E-4497-B45D-D0DB35D9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979EC-402F-4A42-A77F-D6A8DEA3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4D113-30D7-4067-AE18-344C3FEE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077B3-C7D7-4D67-8EE9-80DB104B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1C9EC-0682-4D52-B986-9ADE2833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11C0-9FBD-4BB3-8AF7-A3B05B44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EA73B-833E-47A7-86BD-B10E13A6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DF46C-D73A-43D8-AA8E-ED9674B9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72B4C-DABC-47B0-8DC6-ABBDD35A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12469-889D-437F-9C53-FBAA98DE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B6338-69E2-4DAB-851B-700D3D8D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0B7E1-C1FB-4549-8E0E-498BE1BD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92CF1-3987-4F74-B3F2-00E78C35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F2669-C791-4409-89C8-7390128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AC1AF-C2AC-4632-9D9C-6E7CF4D9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19BE6-6EF8-4167-A3B5-55703417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1CCEE-6C65-43BB-BDB6-FF3ABCF5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C6738-7333-40AF-92CE-229451AE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6E88F-7902-4DDF-8FAA-ADEA456F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4AD0F-D707-4B6A-8E67-145A7DC5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D4F4F-E5B0-4FA3-9B21-FE42762D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ADDCD-90CB-48AD-8C2E-915514F0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7F973-0744-4668-8CCE-3BC00E60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E811F3-7D2D-4F0C-90DC-0376D8BA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WHAT IS UNIQUE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5FE3B0-C122-4CDE-83D7-79726173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build is a fusion pipeline, not a single fragile model.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C60CD7-C580-48BE-BF37-53B575F6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14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BC3F65-6897-44DC-ABEC-0364A772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506D27-C971-40EE-AF3E-27B07CEE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1. Baseline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092286-487B-4084-A521-917AEAF6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828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Chronos-Bolt zero-shot time-series forecast from 168h context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47B733-0E18-436A-BD6A-9FBD467D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D762A8-6F0B-4B96-9FBD-718C1E7B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A06F7B-674D-40FA-BF6E-7BBCB660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2114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37B7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C32EAC-5260-4810-94F2-8653E80E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82D9E8-9F72-4CF8-AFA5-3B858055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670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2. Residual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0F5344-AF88-427D-90EE-737936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1828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Open-Meteo weather adjusts sudden cloud and wind changes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6F525E-4804-4D7C-A9F4-2FADEE35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052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50720B-81AC-4548-B11B-D2CDC1B0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29F1DE-53DC-4EFE-B06E-9E962D3B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2114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F2A51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A1671E-783F-44DD-9C7A-A77425F6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F3152D-3197-472B-8236-938061F2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3. Physics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44A5D8-A9FA-4A56-AFD6-711A17D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1828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Clear-sky GHI caps, turbine curves, rated limits, non-negative output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922060-03AA-4045-B206-2AD2AB31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59B84A-CCD1-46B8-A388-63A30B09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A8C5DC-8A76-48E1-8B4E-306D295E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2114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7DBA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1D0F6A-3E06-48EE-A14F-D456744E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87EAEC-E554-4D67-B642-5823ADC9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670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4. Explain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3D5E8F-64CF-4089-90D9-5607690A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33750"/>
            <a:ext cx="1828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Offline deterministic reasons, confidence bands, Kannada-ready templates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8A09B2-C680-4E2C-9D9B-293C5ABE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2DC322-A788-42D5-91E6-BD21E888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Why this matters: a forecast that is numerically plausible but physically impossible will not survive a control room. GridSense corrects before the number reaches the operator.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C07E9D-2183-4F4C-9F93-F2CE30C9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5A96A0-520D-4761-B35F-4359DBE6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Source: src/pipeline/orchestrator.py, baseline_forecaster.py, residual_adjuster.py, physics_constraints.py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0CE7B7-FE33-4DE8-AB43-CB91440A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93926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3E88F-1C46-458F-9EBA-7312ACA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DA349-20B7-4AA9-95B8-1A739146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97A21-76ED-4BE6-9C32-53E9F473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70442-114E-43DF-99BC-C8AE72E4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5CFCC-0542-4972-A0BC-18E4D331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04EEB-D2A9-4286-BC8B-768C11FE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196FF-8918-420B-AD22-9CE92124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69763-3E5D-45AC-A96F-F2E70592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046CD-5329-4F35-B651-7500C9F5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C1135-0674-4D94-8EFE-173B9FD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F4D5D-E54B-4F38-A7D9-3847548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1DA9B-777E-479F-953B-AAB724D1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4AF03-EDB3-47AF-81AA-F97F9011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28C9D-F917-4AA9-8AF8-807CE150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538E5-E51E-4DE2-AA13-327FF9EF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8877B-A0E8-4D22-BD2B-87C43BFC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1662A-5670-4162-9DE3-AA6A2EF6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3F353-5EB8-4406-B58E-8F8CBA54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55B60-62F7-4107-9372-E020E7C9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7504F-49F1-4507-90A7-85724E0A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104BC-991E-4BD5-BC4C-C8CCCEB0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8DF89-F320-420C-868A-F57F8894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2837D-346F-4A73-B7FC-793A4613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BD7F2-9CFA-4598-BCE8-8E2C4698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57EF0-F191-4685-B54D-8EAB6C07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C7891-BB19-42E8-AAC8-D626341C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C40F80-F6FA-46E8-BC57-FD974780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FBDCEC-721F-46E4-873D-5BF1CA71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MEASURED 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48903B-F693-45E0-9EB2-6898265F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prototype already beats yesterday-as-tomorrow scheduling.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1CE2A6-0518-4784-AE55-4EE91203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Persistence baseline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14D4B1-A733-4857-9CEF-34BFE6EF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622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2BADF6-ED69-4EA7-982A-73C9D526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62250"/>
            <a:ext cx="405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A5DCF4-3AC8-416A-B7C6-1AD7836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5A4A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D65A4A"/>
                </a:solidFill>
                <a:latin typeface="Georgia"/>
                <a:ea typeface="Georgia"/>
                <a:cs typeface="Georgia"/>
              </a:rPr>
              <a:t>42.6 MW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5FCBF5-215B-4ABF-96EC-FCDDA7B6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GridSense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D00A7A-E221-4B38-9363-82EDBF14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1CF3B0-3F55-486A-A4F6-8CF2C6A3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3228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287665-D956-439F-9C8D-FDD90BE0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BA64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7DBA64"/>
                </a:solidFill>
                <a:latin typeface="Georgia"/>
                <a:ea typeface="Georgia"/>
                <a:cs typeface="Georgia"/>
              </a:rPr>
              <a:t>33.9 MW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5FA3EA-5293-4217-A023-36806DF2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7DBA6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DFD2D5-A03C-4845-B1C6-53B51BBA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7DBA64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7DBA64"/>
                </a:solidFill>
                <a:latin typeface="Georgia"/>
                <a:ea typeface="Georgia"/>
                <a:cs typeface="Georgia"/>
              </a:rPr>
              <a:t>20.4%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ED9FB3-900B-4E34-87CB-477C30E5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D0C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8D0C2"/>
                </a:solidFill>
                <a:latin typeface="Avenir Next"/>
                <a:ea typeface="Avenir Next"/>
                <a:cs typeface="Avenir Next"/>
              </a:rPr>
              <a:t>RMSE improvement vs persistence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BB7B98-F9D9-4693-B607-65A0A33E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81450"/>
            <a:ext cx="2495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7DBA6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3268D8-66FC-4FC6-B7D6-E08C0043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91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Why the metric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B11096-8090-4E3D-8F96-81ACBC6E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57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Persistence is the simple operator baseline: tomorrow looks like yesterday. Beating it is the first honest hurdle before any AI claim deserves trust.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30CA2D-46E4-4040-A8F0-FF80629A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9BCF91-233E-4600-ACCA-8B6706C5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Metric source: models/baseline/metrics.pkl. Current values: RMSE 33.901 MW, persistence RMSE 42.615 MW.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0B9535-CF18-4FD0-9559-BB538295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770E9E-A4F4-43D5-BB31-FBBE726C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Source: models/baseline/metrics.pkl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E84215-96C1-4D1C-9E9D-0832CEB5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94148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4D517-BA49-4606-B57E-6762E9B2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FBFF2-1FA2-4195-BFF8-930ECCEE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DE9CC-8A88-4D14-8FBF-32257ABC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5D138-0CD9-44C1-8332-954D28F0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85285-01AE-4F7F-8B0D-246B4370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FC9B6-E895-41A5-9D94-76C2891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0C6CF-9B43-4FFD-9EA0-1C6A52D3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211CE-E1A7-403B-B5B5-99A39F22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A6ED8-BD8A-4521-8D48-77D2E6C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637F0-A4CF-4463-96CB-2F052DC0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396E6-5F9A-4554-83C3-74B4564B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D838B-1A25-4C66-8303-5EB455C3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3D8CA-2497-4B09-91DF-A7D34565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ED2F3-B33A-4930-B5F4-D93B3FF2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10628-9025-42F5-AC96-E32EE4D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817B9-5B72-40A1-9CDF-A78CD3A9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B9AAB-DAC9-4B61-9BF8-E9179669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0505C-4E8B-437C-A555-B507247B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D1FEB-19E7-4BFA-A7B7-754B3743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3AE2C-9394-40FA-9AE2-9A5A4DC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92F2B-922A-402C-9AB2-55F915E7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F9895-C0E0-48C1-9103-E2CC708A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3280E-F999-4EDB-B86B-676B3DCD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A2C24-06E4-445D-B8DE-A798C6E5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BC2C3-BB12-4291-9166-12C36E13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D7C89D-59F9-4196-9E03-03CA47EC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OPERATOR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745C55-0E5D-4E63-9676-21B974B2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Operators get a decision, a range, and a reason - not model mysticism.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AFD1A-5782-484B-93FE-1EFCBCAE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191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358BB-9DB2-4806-95C0-C0589727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86D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D686D"/>
                </a:solidFill>
                <a:latin typeface="Menlo"/>
                <a:ea typeface="Menlo"/>
                <a:cs typeface="Menlo"/>
              </a:rPr>
              <a:t>SOL_PAVAGADA_100  |  13:00 IST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0816F-B0E8-4557-9933-FEEE7943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66.5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2133A0-3CA9-46AD-BF5C-C162B799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MW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B4A6A1-E2AC-4A6B-8DC8-54A2053E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D686D"/>
                </a:solidFill>
                <a:latin typeface="Avenir Next"/>
                <a:ea typeface="Avenir Next"/>
                <a:cs typeface="Avenir Next"/>
              </a:rPr>
              <a:t>expected generation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F7B89D-E67F-430E-8194-38BA3F3F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52DF5F-4875-4624-BCB2-2D932E16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45E0E3-27E6-4D5E-8E05-E9589C68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671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58.2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7B0913-AA71-4BB3-B399-71F29DD7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671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75.1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5A1ABA-0072-4012-9FF4-1AE269A5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52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D686D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D686D"/>
                </a:solidFill>
                <a:latin typeface="Avenir Next"/>
                <a:ea typeface="Avenir Next"/>
                <a:cs typeface="Avenir Next"/>
              </a:rPr>
              <a:t>confidence band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A1C4DC-27D5-45C3-B366-5821C9D3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8342AA-D377-4D8E-906D-793EA0CD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502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Reason: downward adjustment due to cloud cover; capped when clear-sky GHI makes higher output impossible.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9EF54F-6210-4118-88F9-55F00BD8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281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8055E5-C134-441B-9CBD-FA11C9CD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7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101417"/>
                </a:solidFill>
                <a:latin typeface="Menlo"/>
                <a:ea typeface="Menlo"/>
                <a:cs typeface="Menlo"/>
              </a:rPr>
              <a:t>cloud_fraction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207288-7EA9-4E37-9D8F-6229D645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098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0.37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C4E9B0-EAB8-47D0-95F3-5527499B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281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4F7914-B371-489D-9C78-57D92E92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7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101417"/>
                </a:solidFill>
                <a:latin typeface="Menlo"/>
                <a:ea typeface="Menlo"/>
                <a:cs typeface="Menlo"/>
              </a:rPr>
              <a:t>residual_MW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985088-D862-47FE-8DF1-57FA946C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909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-18.5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6E6040-FEA7-49A0-B231-3E5B5D19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281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9F52BB-9BA0-4045-B582-FA9D8003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00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7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101417"/>
                </a:solidFill>
                <a:latin typeface="Menlo"/>
                <a:ea typeface="Menlo"/>
                <a:cs typeface="Menlo"/>
              </a:rPr>
              <a:t>was_clamped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70FBF2-495A-4314-8AF2-0046CDDF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719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true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97759A-D8EF-421B-AE9B-073D22BD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62550"/>
            <a:ext cx="289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Offline templates are a deliberate product choice: exact MW values, deterministic wording, zero external LLM calls, and Kannada support in the test harness.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42101F-CA91-418B-8203-159C4AA8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33A94B-C1CA-4E19-B1DE-65DBC690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Source: README.md, src/pipeline/explainability.py, tests/test_harness.py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373E96-87B8-4623-8D2D-12A04043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74895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97E20-F5B7-4AC3-9EBC-5DDBFC06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7D458-3BD1-4D72-AF79-CA113BE5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C3AD7-56E2-4FED-A59F-A360CFFB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6EDE2-1902-49AB-B404-E55500C6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DDE5F-F530-453A-8F03-CF42DC73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57336-1217-43BB-833F-EE674439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134BA-4AC3-4336-A162-9D7E3124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EC42C-FC7C-4E16-9642-CF5C9E39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1C12B-BB01-426B-B38A-2D3C901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D4089-40E3-409D-9C0D-266F4839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A114B-160E-4D82-AD4B-53F64F74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DE4CA-D24E-4B1B-AE3E-BE65A583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2D073-52A8-4007-A011-135D8CA4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82885-1A76-48DA-8F3B-E932CE8E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C6DC8-11C2-4343-BC3E-FE72EB6D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AB9D3-2142-4D45-82C8-DD6B8DCD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E371D-6B68-4E0C-8B21-D6A302E8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003A7-DAA0-48AB-A1BB-DF99171C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C8774-B8F7-43C9-AE5E-C4A90EBD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B8F02-A5EA-40AE-8A2A-26C0D6D9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98C53-43DF-4F7A-B7CE-C8C9784E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AA8F4-D4E5-462F-9CB0-DA505C6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4AE22-D005-48AE-A88A-0CAC3366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D9C32-90BB-4BBE-9567-89A6C494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C4686-2476-438A-AB8C-A6415B9E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1BB7A8-6E32-43F8-BAAF-20814C01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DECE3-13EF-469B-8791-5C701AD3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9B87C-9E8B-408E-95FE-C5ABC77F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GOVERNMENT FEASIBILITY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A5D420-EA22-4A62-89F6-253097B4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non-negotiables are product constraints, not appendix claims.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C36060-F901-4996-A206-933FB48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6C57E6-E3B8-4C5C-B202-87109FDC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8D0C2"/>
                </a:solidFill>
                <a:latin typeface="Avenir Next"/>
                <a:ea typeface="Avenir Next"/>
                <a:cs typeface="Avenir Next"/>
              </a:rPr>
              <a:t>Requirement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E23BA4-CB0D-4D68-AF5D-BACFA53A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4315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8D0C2"/>
                </a:solidFill>
                <a:latin typeface="Avenir Next"/>
                <a:ea typeface="Avenir Next"/>
                <a:cs typeface="Avenir Next"/>
              </a:rPr>
              <a:t>How GridSense satisfies 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A05DED-97D1-4A2A-9D81-5FA61CC8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431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D0C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8D0C2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ED773D-30B9-4E59-B985-7FA7DEE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FBEAC3-4F42-4266-AD5C-43744452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 system replacement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D19232-874B-4DF0-89BF-E11124C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Reads exported CSV/JSON; returns REST and CSV outputs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A7E7D8-4E9B-4FB1-A7FD-049AC1AA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EB5789-CE4D-48D2-B6F6-E224A662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9082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Built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AE9FF8-B287-4C11-9AE2-6B30D08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F01A28-A7EF-4F95-9BDA-35D97F54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Masked 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4BF3C3-C44C-4A60-B924-0F311546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Physics-based synthetic SCADA plus real weather inputs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50390D-BAB7-4851-BFED-268DEA43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194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752597-3981-4C35-B959-02A704F4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6707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Built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702B9D-30B3-4685-B7D9-B7AE01F6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C42B0F-FEDD-4AE0-BD20-5DF7EDF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Explicit uncertainty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C28704-1B57-4355-9791-1397B9EC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confidence_lower and confidence_upper in every response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5E4B1B-848B-4BAA-948C-8F18B65D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95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410CDC-D0D4-4A9B-982D-694342B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4332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Built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DCBAA8-59A9-4D19-8E12-F05B9861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7B0852-5CAD-4A1B-A037-4FA0A73A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Explainable operations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606DC5-A9C2-46C3-B7B5-F0F534FC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Deterministic reason strings with drivers and clamp reasons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7017C-3E67-4404-A8B2-2E0E7CC8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719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E435E6-73A9-49E9-81CE-C76E459A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1957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Built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6A823C-31F0-4433-8095-ECE23007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CAD39E-5590-4C23-915A-27C3AF4D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 hosted LLM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D55301-ABC5-4081-9471-E2464EEE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No external AI API for sensitive data; offline explanation engine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3F7A88-B647-4C55-8AA0-571AE64E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482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1B4B62-E217-4485-88DB-EFD97209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9582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Built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A2C141-5AD5-4B07-B5F6-F65517D1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6C842F-C649-4415-B6AD-08B49378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Deployment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36DB8D-AC35-4EBA-B95A-94E214F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FastAPI, Streamlit, Docker, CPU-first run path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5D2988-993B-4981-93F0-5C085617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244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CAD4F8-A764-4786-A469-D63270B0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7207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01417"/>
                </a:solidFill>
                <a:latin typeface="Avenir Next"/>
                <a:ea typeface="Avenir Next"/>
                <a:cs typeface="Avenir Next"/>
              </a:rPr>
              <a:t>Built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B148CE-BEFB-4457-AA70-F99E2A65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749A8D-EF71-48DB-BCD9-F97C9B9C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Source: SUBMISSION.md, Dockerfile, docker-compose.yml, src/api/main.py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D36890-5727-48F3-AB62-0E026EC9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49887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AF379-0F05-4F97-9CD9-CCC7C820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26807-FBF6-44DC-85EC-E1CC4F32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2ED81-F8C3-45E7-ADD6-26FE1D33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63B47-4E01-4AE0-995C-72C1E1F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82DA6-2F30-49B8-8657-9D783023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B7B43-AE17-4929-84CB-222A048B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E284E-D118-43FF-8160-19E32B64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3981F-2E9B-43B7-B52B-425BDB5A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F542D-CE9C-47A8-B6B3-2C48EFC6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DCD45-E25F-4F29-9EBC-764E8848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39484-2E00-4374-BB6A-C0F5DB5C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2AAF3-56EC-4108-8FE2-9E693AC9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AC0EE-851C-40B2-8E0A-B6A6253B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C2BF2-DA48-4946-94F0-EDDD8D37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DB6DD-C17B-44FD-81D8-7131CA08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4AD1C-BF0F-4E76-A6EA-851D815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CE15D-DCE4-44B8-9C75-DFD06101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E161B-E4CE-4A1C-AC46-E3946A1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A7E3C-3A29-47DD-A1FA-B7C642A4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6E0B6-4224-43B7-8A83-671AB5CA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B9C9B-EAFD-43D5-A6DA-6506CA54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EBCB1-B839-40D2-AE2F-19681117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30E6D-1DCD-4F3F-831E-93EB2574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27163-C92B-459E-8AAD-D63DC7CA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D9A15-1F90-4742-9623-B72FBBD7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8D4A8-3AB3-433F-9AC8-CBAFC35C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78257-8E2F-4B03-852D-C76B456E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F822A3-F3EA-49DE-B819-C1221573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DEMO QUALITY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4A2F1-489C-4C84-B9FB-75769760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demo proves an operating workflow, not just a pretty forecast chart.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F58B6B-9007-4922-8F94-D8D45257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F2A51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D64B23-35A3-47AB-A395-467E3B7D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5D8BE4-305A-4E57-8AFD-3BD8A4DF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Plant forecast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4E626D-A921-4390-9636-CE22D660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/forecast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7602D8-DC32-40B5-9091-041A5554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1A4ACB-A231-4F33-A529-7C75A066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3C6CEA-BDF1-4418-91C4-53BC4054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574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37B7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1F1F6E-75E3-4723-A9E9-6D36E122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57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152D56-B0BE-4DAE-9962-4E9C2198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Cluster 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A73088-6D93-4443-AFE0-9007359F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/forecast/cluster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D540B9-5478-48F7-B551-6C00B2B0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079A5B-B912-4C05-BAD0-B5B1BD2C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CDE24A-EB71-4D54-BD40-9942A20B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574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1F"/>
          </a:solidFill>
          <a:ln xmlns:a="http://schemas.openxmlformats.org/drawingml/2006/main" w="9525">
            <a:solidFill>
              <a:srgbClr val="7DBA6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A997A3-6C3B-4E7A-AE39-A5C7BE78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57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916FD8-0192-4DD2-8429-4CC70F07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Bulk schedule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72A9CD-120C-4E85-86FD-6FACDFF6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/forecast/bulk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27AE50-F7E7-4D05-81AC-AA55DB32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2A51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C1BC9F-A724-40C7-861F-BE464FB8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Operator override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73673C-9930-45B4-BC0A-DF748227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Maintenance, curtailment, outage knowledge enters the forecast.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ADBFDC-4CE9-4316-9E31-23F24B88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005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7B7C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29EAF1-615F-4B11-8FC2-0069A7C0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Data quality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9AD806-6976-4CEE-AF91-9EA14821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Gaps, flatlines, impossible values, spikes checked before forecast.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CFEC6B-F374-49A6-9036-391F51A2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005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2A51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748C44-5AFE-4F96-A692-2CE32D15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CERC compliance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449724-BA57-4DD8-8774-1D135C34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Daily benchmark against regulatory thresholds.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65C656-29AF-44D2-855F-EF6C0422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005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7B7C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027147-3ED1-437C-BA2D-B2C65133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72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Scheduler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987290-0F58-4BD4-B180-A2EA8F24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387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06:00 day-ahead and 12:00 intra-day CSV reports.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D08144-27CE-45D4-A333-146B2653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293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Judges can see the same system three ways: dashboard for humans, API for integration, CSV for government operations.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B2E505-9384-4BD5-95E0-B3F79330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69148E-C6D0-4D97-8328-AA7A2D0F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Source: src/api/main.py, dashboard/app.py, src/scheduler.py, src/pipeline/data_quality.py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1525A0-B9FF-4821-9770-DA423CA6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59240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3597FF-8AA1-4483-8D41-B852A757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BADA5-2E05-48AC-BEE9-A7FF9EC4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17FCA-E621-414E-87A0-32378B31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AAC21-72D2-48C6-A035-E57BF17B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83619-D690-46E2-AF03-6163E5F7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EEF58-2D0D-4B82-9037-5D2F08B1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B831F-6AD2-4D16-A1FB-DCFA5371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A643A-0FE1-454E-BC10-B089E5D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269F1-14CE-415C-92C2-05D99C7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8C49F-98B2-4C05-B7F5-6FD6499E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39719-39C3-4AF4-9615-2318868B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B10A9-F32C-4C47-A224-66B1C5D4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13055-9AAC-44BB-AF23-62D88FEA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41085-380D-42A1-A441-FF079B70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A065F-BB52-4124-ADBF-5A8E12E7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04F97-07E8-493B-B51F-8EADA7D9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50AD8-BA7B-48AE-B33C-CEC0D754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AFDEB-2B11-4C95-8557-0F6DF98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E602C-49E9-43AC-9860-2E43B479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C0786C-0FFD-4137-80CC-6E27DA90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A51D7-4566-4FEB-9183-43CE0402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9B0B2-5083-4153-B9A8-378DE2B1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412BC-101D-47C0-9FC6-D401D9ED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038F5-348F-441E-B185-C83AEB6F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C2549-9C63-498B-B99B-926BCB3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89473-AC8B-4418-93EC-F2F239A3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SCALE AND IMPACT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2A664-1E51-4ADD-A48F-80928F60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477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A five-asset pilot can become Karnataka's renewable forecasting fabric.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66097-072E-4344-B57F-2F2A5816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095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9525">
            <a:solidFill>
              <a:srgbClr val="7DBA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8B02BC-8802-4A47-8CA6-18AF7A63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8D0C2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8D0C2"/>
                </a:solidFill>
                <a:latin typeface="Avenir Next"/>
                <a:ea typeface="Avenir Next"/>
                <a:cs typeface="Avenir Next"/>
              </a:rPr>
              <a:t>NOW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62457-FFB5-4BCC-BB2B-348714FE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 assets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00752-34EB-47B6-A3E1-A79BD250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Pavagada, Koppal, Raichur, Chitradurga, Hassan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BB6932-B1BB-4048-BE85-09B1F7AA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480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871DAC-3146-4ABD-8FFA-1AEC7FE6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13D9EB-271C-447D-A80E-652D1A70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2095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3CCB9E-6135-4535-A147-4BE3EA3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14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36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B736F"/>
                </a:solidFill>
                <a:latin typeface="Avenir Next"/>
                <a:ea typeface="Avenir Next"/>
                <a:cs typeface="Avenir Next"/>
              </a:rPr>
              <a:t>PILOT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5B93A8-0A33-445E-92B7-B76E37E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1 region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37C730-28DA-4F72-8007-44EFE6A0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338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4D565A"/>
                </a:solidFill>
                <a:latin typeface="Avenir Next"/>
                <a:ea typeface="Avenir Next"/>
                <a:cs typeface="Avenir Next"/>
              </a:rPr>
              <a:t>Daily forecasts, operator overrides, compliance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DE1926-7A2A-457F-B3F5-75C5B8E7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480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97CF9A-1DB1-4FED-9E73-30559C5E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10A6A5-32DB-4F20-81E5-D92EC4B8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095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613674-DC82-45A8-AD34-02AA1853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36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B736F"/>
                </a:solidFill>
                <a:latin typeface="Avenir Next"/>
                <a:ea typeface="Avenir Next"/>
                <a:cs typeface="Avenir Next"/>
              </a:rPr>
              <a:t>SCALE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B9700A-7E07-48FD-A8D6-EDE7A158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50+ assets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75216B-4892-43D9-820C-EE2537C3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4D565A"/>
                </a:solidFill>
                <a:latin typeface="Avenir Next"/>
                <a:ea typeface="Avenir Next"/>
                <a:cs typeface="Avenir Next"/>
              </a:rPr>
              <a:t>Flexible regional clusters and scheduler outputs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CFCB09-7C3C-491D-BA75-F2A1CF2A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BB67D4-F9AE-46D7-BFD1-A2CCF7DC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9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9105C6-A98B-4B74-BC81-931C69AC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86050"/>
            <a:ext cx="2095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52A246-B3B8-43AE-AFC5-5CFF108A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36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B736F"/>
                </a:solidFill>
                <a:latin typeface="Avenir Next"/>
                <a:ea typeface="Avenir Next"/>
                <a:cs typeface="Avenir Next"/>
              </a:rPr>
              <a:t>STATE LAYER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2B5AE4-4E86-45A1-B5C3-AE020326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100s MW decisions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AA553D-8D44-4DE7-BE1D-CFB6F8B8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4D565A"/>
                </a:solidFill>
                <a:latin typeface="Avenir Next"/>
                <a:ea typeface="Avenir Next"/>
                <a:cs typeface="Avenir Next"/>
              </a:rPr>
              <a:t>Forecast confidence embedded before dispatch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0C0F6A-EEB1-47FE-BECE-842E5293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Third-order effect: better forecasts mean fewer blind backup decisions, less avoidable curtailment, cleaner audits, and faster onboarding for the next renewable plant.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023A2C-47EC-4921-9554-B0988CC7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0F41E8-AD74-4EC3-8A56-8CEC1045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Source: README.md, EXPLANATIONS_AND_ROADMAP.md, SUBMISSION.md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50FAC4-071E-4787-85CC-2F6A6EA7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05055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E03117-C790-436F-8A1F-D258946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CD530-C0BE-4732-ACB0-29FC6449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A1C01-2F80-4093-9196-14B0614C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351BE-6105-4175-BE8C-618A2451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3AD1A-2C0E-4996-860B-E6A09959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A8CA2-7D48-45CC-867F-067ADC68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BE318-DA51-4CF4-BDAE-36F99456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9E397-D606-4229-BA30-59F43988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8682C-51C8-4532-8958-735AE776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4F864-B098-40D9-B68D-499DF69C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D587B-53E4-4599-A48B-3ABB2EE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79AE6-57E8-45E7-99D0-A51332C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D9E41-199A-464E-8E84-B68F72C8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21DDE-9FDB-431A-A4F8-B87BCDDC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93603-3B2E-4055-BF4B-C277CB36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740DF-2648-4274-BE29-E0C08E49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0EC41-218E-4D34-A044-D456233D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8CC5F-0291-4A5C-AB23-1180492A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473B9-D833-43D0-A807-76127C3B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3B5DD-B885-4390-9A31-5410E314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63F1A-1AFF-4113-B70B-2C9B7DE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338B1-8C93-4531-AFBA-C0DD4E0F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60999-6607-4543-8413-E4079ABE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BC7CD-0385-4B9B-8116-DFEEE051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1E3BD-F8A9-4554-858C-6D4CA3F1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A55EE-9C62-471B-B9BE-3684FFDB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21D39-B5BE-4162-9E22-A318E4E4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12879-206B-4BCD-BF18-7B4D5F36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THE 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666A33-8E51-4E5C-9C16-CB7B8A93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Pilot the layer where scheduling error already costs attention, money, and trust.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780A50-9D90-48D5-A422-0F59B13D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B34A33-C78D-4263-AAF7-9BFD1154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A51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2A51A"/>
                </a:solidFill>
                <a:latin typeface="Georgia"/>
                <a:ea typeface="Georgia"/>
                <a:cs typeface="Georgia"/>
              </a:rPr>
              <a:t>20%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F0EE0D-8E83-47AE-97AC-75B63600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0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Problem depth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0DC17A-E129-44D5-9BB2-1EF280C6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9825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Karnataka assets, CERC context, non-negotiables mapped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130892-3BF5-40B0-BC09-FF39F617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2C8E52-65B1-4974-8875-F72878F8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7B7C3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37B7C3"/>
                </a:solidFill>
                <a:latin typeface="Georgia"/>
                <a:ea typeface="Georgia"/>
                <a:cs typeface="Georgia"/>
              </a:rPr>
              <a:t>25%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0EE922-8C50-431A-A457-3359246F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Technical build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DDFF68-B840-499D-B14E-DD3EB3FE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62275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4-pass fusion, uncertainty, physics, tested APIs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7FEBEB-E249-4A9F-B613-916F0034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FADF3F-7596-45C9-B50C-E059C1E7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A51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2A51A"/>
                </a:solidFill>
                <a:latin typeface="Georgia"/>
                <a:ea typeface="Georgia"/>
                <a:cs typeface="Georgia"/>
              </a:rPr>
              <a:t>25%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852314-744C-4297-BEAB-ED1931EC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Deployability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B74F55-4EF4-461D-924A-5BF9AF18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14725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No SCADA changes, Docker, CPU, CSV/API outputs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019BBB-37D5-4313-B20D-8BED83CF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054B5A-963B-466A-AB3B-D5C9918A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7B7C3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37B7C3"/>
                </a:solidFill>
                <a:latin typeface="Georgia"/>
                <a:ea typeface="Georgia"/>
                <a:cs typeface="Georgia"/>
              </a:rPr>
              <a:t>15%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7AA611-7BF7-41F0-AF4D-34B5E02E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Demo quality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2595FA-6303-4D26-8E8D-C7F57F03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67175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Dashboard + API + bulk + compliance + override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30E404-E581-4ABC-A022-7E3C4D59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F663C9-40B9-46BB-9EAE-33F87C02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A51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2A51A"/>
                </a:solidFill>
                <a:latin typeface="Georgia"/>
                <a:ea typeface="Georgia"/>
                <a:cs typeface="Georgia"/>
              </a:rPr>
              <a:t>15%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7C8290-814D-465D-99B1-ED715231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0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Long-term impact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D09BCB-39BF-438D-A19B-A6FD6EED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9625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Pilot-to-state roadmap with sovereign data path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9F7DBC-23E1-4F8C-9FF1-02579E3A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838200"/>
            <a:ext cx="2876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B1B873-B09D-4BD5-9BA9-968AE398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028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417"/>
                </a:solidFill>
                <a:latin typeface="Georgia"/>
                <a:ea typeface="Georgia"/>
                <a:cs typeface="Georgia"/>
              </a:rPr>
              <a:t>90-day pilot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E86081-B102-4CCC-A149-72A3E1B9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335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4D565A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4D565A"/>
                </a:solidFill>
                <a:latin typeface="Avenir Next"/>
                <a:ea typeface="Avenir Next"/>
                <a:cs typeface="Avenir Next"/>
              </a:rPr>
              <a:t>5 plants -&gt; one region -&gt; scheduled CSV + API integration proof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620882-2B97-40EC-A95E-951E3140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Team / contact / repo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3FF61A-DE30-4820-A21A-F91F3B31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D8D0C2"/>
                </a:solidFill>
                <a:latin typeface="Menlo"/>
                <a:ea typeface="Menlo"/>
                <a:cs typeface="Menlo"/>
              </a:rPr>
              <a:t>[add team name]  |  [add GitHub URL]  |  docker-compose up --build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FA2F30-3381-45F3-B48A-D99B5449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1D3281-7AFE-4013-BB91-503B420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AA7A3"/>
                </a:solidFill>
                <a:latin typeface="Avenir Next"/>
                <a:ea typeface="Avenir Next"/>
                <a:cs typeface="Avenir Next"/>
              </a:rPr>
              <a:t>Source: evaluation criteria supplied by user, repo evidence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891C50-A52B-4123-83DC-A473110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D0C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8D0C2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4434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2026-05-06T19:31:12.7770000Z</dcterms:created>
  <dcterms:modified xsi:type="dcterms:W3CDTF">2026-05-06T19:31:12.7770000Z</dcterms:modified>
</coreProperties>
</file>